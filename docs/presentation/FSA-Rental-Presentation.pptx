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" cy="6400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32104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rgbClr val="A0AEC0"/>
                </a:solidFill>
                <a:latin typeface="Calibri"/>
              </a:rPr>
              <a:t>F</a:t>
            </a:r>
            <a:r>
              <a:rPr lang="en-US" sz="1200" b="1" dirty="0" err="1">
                <a:solidFill>
                  <a:srgbClr val="A0AEC0"/>
                </a:solidFill>
                <a:latin typeface="Calibri"/>
              </a:rPr>
              <a:t>ullstack</a:t>
            </a:r>
            <a:r>
              <a:rPr lang="en-US" sz="1200" b="1" dirty="0">
                <a:solidFill>
                  <a:srgbClr val="A0AEC0"/>
                </a:solidFill>
                <a:latin typeface="Calibri"/>
              </a:rPr>
              <a:t> Academy project</a:t>
            </a:r>
            <a:endParaRPr sz="1200" b="1" dirty="0">
              <a:solidFill>
                <a:srgbClr val="A0AEC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" y="2112264"/>
            <a:ext cx="10972800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8800" b="1" dirty="0">
                <a:solidFill>
                  <a:schemeClr val="bg1"/>
                </a:solidFill>
              </a:rPr>
              <a:t>RENTAREA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058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A0AEC0"/>
                </a:solidFill>
                <a:latin typeface="Calibri"/>
              </a:rPr>
              <a:t>A modern property rental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11D48"/>
                </a:solidFill>
                <a:latin typeface="Calibri"/>
              </a:rPr>
              <a:t>PRESENTED BY OLEH POIASNIK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3D Model 9" descr="Superhero male">
                <a:extLst>
                  <a:ext uri="{FF2B5EF4-FFF2-40B4-BE49-F238E27FC236}">
                    <a16:creationId xmlns:a16="http://schemas.microsoft.com/office/drawing/2014/main" id="{DDE487CF-2CBF-FCF0-866F-15135E8A6DB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32189664"/>
                  </p:ext>
                </p:extLst>
              </p:nvPr>
            </p:nvGraphicFramePr>
            <p:xfrm>
              <a:off x="7782786" y="1632435"/>
              <a:ext cx="2807770" cy="417834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807770" cy="4178343"/>
                    </a:xfrm>
                    <a:prstGeom prst="rect">
                      <a:avLst/>
                    </a:prstGeom>
                  </am3d:spPr>
                  <am3d:camera>
                    <am3d:pos x="0" y="0" z="6100399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798899" d="1000000"/>
                    <am3d:preTrans dx="265595" dy="-18103423" dz="1602966"/>
                    <am3d:scale>
                      <am3d:sx n="1000000" d="1000000"/>
                      <am3d:sy n="1000000" d="1000000"/>
                      <am3d:sz n="1000000" d="1000000"/>
                    </am3d:scale>
                    <am3d:rot ax="678624" ay="-2348180" az="-431693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28241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3D Model 9" descr="Superhero male">
                <a:extLst>
                  <a:ext uri="{FF2B5EF4-FFF2-40B4-BE49-F238E27FC236}">
                    <a16:creationId xmlns:a16="http://schemas.microsoft.com/office/drawing/2014/main" id="{DDE487CF-2CBF-FCF0-866F-15135E8A6DB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82786" y="1632435"/>
                <a:ext cx="2807770" cy="417834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01  /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Problems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" y="3017520"/>
            <a:ext cx="320040" cy="3657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PROBLEM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66160"/>
            <a:ext cx="2971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F5F2"/>
                </a:solidFill>
                <a:latin typeface="Calibri"/>
              </a:rPr>
              <a:t>Outdated listings.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54880"/>
            <a:ext cx="2971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  <a:latin typeface="Calibri"/>
              </a:rPr>
              <a:t>Renters scroll through stale ads with vague addresses, missing photos and no way to verify if the place is still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65176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3017520"/>
            <a:ext cx="320040" cy="3657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31546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PROBLEM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566160"/>
            <a:ext cx="2971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F5F2"/>
                </a:solidFill>
                <a:latin typeface="Calibri"/>
              </a:rPr>
              <a:t>No tooling for owners.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754880"/>
            <a:ext cx="2971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  <a:latin typeface="Calibri"/>
              </a:rPr>
              <a:t>Posting a property is a manual chore — photos, geocoding and updates are spread across spreadsheets and messengers.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65176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49640" y="3017520"/>
            <a:ext cx="320040" cy="3657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31546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PROBLEM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566160"/>
            <a:ext cx="2971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F5F2"/>
                </a:solidFill>
                <a:latin typeface="Calibri"/>
              </a:rPr>
              <a:t>Fragmented communication.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754880"/>
            <a:ext cx="2971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  <a:latin typeface="Calibri"/>
              </a:rPr>
              <a:t>Renters and owners juggle phone, WhatsApp and email. There is no shared place to chat, book a viewing and keep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02  / 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8F5F2"/>
                </a:solidFill>
                <a:latin typeface="Calibri"/>
              </a:rPr>
              <a:t>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11D48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F5F2"/>
                </a:solidFill>
                <a:latin typeface="Calibri"/>
              </a:rPr>
              <a:t>Domain-Driven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1188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  <a:latin typeface="Calibri"/>
              </a:rPr>
              <a:t>Business rules live in pure Java domain objects — User, Listing, Address, Photo, Conversation — free of framework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46888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7432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11D48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6324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F5F2"/>
                </a:solidFill>
                <a:latin typeface="Calibri"/>
              </a:rPr>
              <a:t>Hexagonal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1188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  <a:latin typeface="Calibri"/>
              </a:rPr>
              <a:t>Inbound REST controllers and outbound JPA / geocoding adapters plug into the core via clean ports. Swappable, testable.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7200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11D48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F5F2"/>
                </a:solidFill>
                <a:latin typeface="Calibri"/>
              </a:rPr>
              <a:t>REST + OpenAPI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71500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  <a:latin typeface="Calibri"/>
              </a:rPr>
              <a:t>Versioned JSON API documented with OpenAPI. Stateless, JWT-secured, consumed by the Angular SPA and ready for future clients.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57200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4846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11D48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51663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8F5F2"/>
                </a:solidFill>
                <a:latin typeface="Calibri"/>
              </a:rPr>
              <a:t>DevOps &amp; GitOps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571500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0AEC0"/>
                </a:solidFill>
                <a:latin typeface="Calibri"/>
              </a:rPr>
              <a:t>Every push on main is mirrored to GitLab, built into a Docker image, pushed to ACR and rolled out to Kubernetes.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03  / 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3063240"/>
            <a:ext cx="320040" cy="3657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Front-end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3995928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393192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Angular 20 + Signals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379976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4315968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Reactive Forms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4764024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4700016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RxJS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5148072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5084064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PrimeNG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5532120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5468112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TypeScript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5916168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585216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Nginx (static serving)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65176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00600" y="3063240"/>
            <a:ext cx="320040" cy="3657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31546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Back-end</a:t>
            </a:r>
          </a:p>
        </p:txBody>
      </p:sp>
      <p:sp>
        <p:nvSpPr>
          <p:cNvPr id="23" name="Oval 22"/>
          <p:cNvSpPr/>
          <p:nvPr/>
        </p:nvSpPr>
        <p:spPr>
          <a:xfrm>
            <a:off x="4800600" y="3995928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393192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Spring Boot 4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4379976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0" y="4315968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Spring Data JPA</a:t>
            </a:r>
          </a:p>
        </p:txBody>
      </p:sp>
      <p:sp>
        <p:nvSpPr>
          <p:cNvPr id="27" name="Oval 26"/>
          <p:cNvSpPr/>
          <p:nvPr/>
        </p:nvSpPr>
        <p:spPr>
          <a:xfrm>
            <a:off x="4800600" y="4764024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4700016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PostgreSQL + Liquibase</a:t>
            </a:r>
          </a:p>
        </p:txBody>
      </p:sp>
      <p:sp>
        <p:nvSpPr>
          <p:cNvPr id="29" name="Oval 28"/>
          <p:cNvSpPr/>
          <p:nvPr/>
        </p:nvSpPr>
        <p:spPr>
          <a:xfrm>
            <a:off x="4800600" y="5148072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5084064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MapStruct</a:t>
            </a:r>
          </a:p>
        </p:txBody>
      </p:sp>
      <p:sp>
        <p:nvSpPr>
          <p:cNvPr id="31" name="Oval 30"/>
          <p:cNvSpPr/>
          <p:nvPr/>
        </p:nvSpPr>
        <p:spPr>
          <a:xfrm>
            <a:off x="4800600" y="5532120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5468112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Keycloak (OAuth2 / JWT)</a:t>
            </a:r>
          </a:p>
        </p:txBody>
      </p:sp>
      <p:sp>
        <p:nvSpPr>
          <p:cNvPr id="33" name="Oval 32"/>
          <p:cNvSpPr/>
          <p:nvPr/>
        </p:nvSpPr>
        <p:spPr>
          <a:xfrm>
            <a:off x="4800600" y="5916168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0" y="585216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OpenStreetMap geocoding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265176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595360" y="3063240"/>
            <a:ext cx="320040" cy="3657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95360" y="315468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DevOps</a:t>
            </a:r>
          </a:p>
        </p:txBody>
      </p:sp>
      <p:sp>
        <p:nvSpPr>
          <p:cNvPr id="38" name="Oval 37"/>
          <p:cNvSpPr/>
          <p:nvPr/>
        </p:nvSpPr>
        <p:spPr>
          <a:xfrm>
            <a:off x="8595360" y="3995928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23960" y="393192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Docker</a:t>
            </a:r>
          </a:p>
        </p:txBody>
      </p:sp>
      <p:sp>
        <p:nvSpPr>
          <p:cNvPr id="40" name="Oval 39"/>
          <p:cNvSpPr/>
          <p:nvPr/>
        </p:nvSpPr>
        <p:spPr>
          <a:xfrm>
            <a:off x="8595360" y="4379976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23960" y="4315968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Kubernetes</a:t>
            </a:r>
          </a:p>
        </p:txBody>
      </p:sp>
      <p:sp>
        <p:nvSpPr>
          <p:cNvPr id="42" name="Oval 41"/>
          <p:cNvSpPr/>
          <p:nvPr/>
        </p:nvSpPr>
        <p:spPr>
          <a:xfrm>
            <a:off x="8595360" y="4764024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23960" y="4700016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GitLab CI/CD</a:t>
            </a:r>
          </a:p>
        </p:txBody>
      </p:sp>
      <p:sp>
        <p:nvSpPr>
          <p:cNvPr id="44" name="Oval 43"/>
          <p:cNvSpPr/>
          <p:nvPr/>
        </p:nvSpPr>
        <p:spPr>
          <a:xfrm>
            <a:off x="8595360" y="5148072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23960" y="5084064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GitHub Actions mirror</a:t>
            </a:r>
          </a:p>
        </p:txBody>
      </p:sp>
      <p:sp>
        <p:nvSpPr>
          <p:cNvPr id="46" name="Oval 45"/>
          <p:cNvSpPr/>
          <p:nvPr/>
        </p:nvSpPr>
        <p:spPr>
          <a:xfrm>
            <a:off x="8595360" y="5532120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23960" y="5468112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Azure Container Registry</a:t>
            </a:r>
          </a:p>
        </p:txBody>
      </p:sp>
      <p:sp>
        <p:nvSpPr>
          <p:cNvPr id="48" name="Oval 47"/>
          <p:cNvSpPr/>
          <p:nvPr/>
        </p:nvSpPr>
        <p:spPr>
          <a:xfrm>
            <a:off x="8595360" y="5916168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23960" y="585216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Ingress + TLS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04  / 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8F5F2"/>
                </a:solidFill>
                <a:latin typeface="Calibri"/>
              </a:rPr>
              <a:t>Access on any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A0AEC0"/>
                </a:solidFill>
                <a:latin typeface="Calibri"/>
              </a:rPr>
              <a:t>Mobile-first responsive layout — desktop, tablet, phone share the same component tree.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7315200" cy="3657600"/>
          </a:xfrm>
          <a:prstGeom prst="roundRect">
            <a:avLst>
              <a:gd name="adj" fmla="val 3000"/>
            </a:avLst>
          </a:prstGeom>
          <a:solidFill>
            <a:srgbClr val="ECE6E0"/>
          </a:solidFill>
          <a:ln w="15875">
            <a:solidFill>
              <a:srgbClr val="B8AE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B8AEA4"/>
                </a:solidFill>
                <a:latin typeface="Calibri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7A6F65"/>
                </a:solidFill>
                <a:latin typeface="Calibri"/>
              </a:rPr>
              <a:t>Desktop screenshot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743200"/>
            <a:ext cx="3291840" cy="3657600"/>
          </a:xfrm>
          <a:prstGeom prst="roundRect">
            <a:avLst>
              <a:gd name="adj" fmla="val 3000"/>
            </a:avLst>
          </a:prstGeom>
          <a:solidFill>
            <a:srgbClr val="ECE6E0"/>
          </a:solidFill>
          <a:ln w="15875">
            <a:solidFill>
              <a:srgbClr val="B8AE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4251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B8AEA4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7091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7A6F65"/>
                </a:solidFill>
                <a:latin typeface="Calibri"/>
              </a:rPr>
              <a:t>Mobile screenshot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05  / 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What it does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Multi-step wizard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Listing creation in six guided steps with per-step validation, draft state and inline server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7744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2651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9260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Geocoded address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290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Every address is verified and geocoded via Nominatim — coordinates persisted on the listing.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7744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2651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92608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Photo gallery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4290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Up to 20 photos per listing with cover image, drag-reorder and per-photo alt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34839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7091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83479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In-app messaging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486399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Renters and owners chat per-listing. Read state, soft delete and listing context inline.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434839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47091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983479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Viewing requests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486399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Booking flow with date, time and notes. Owner can confirm, decline or propose a new slot.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434839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9640" y="47091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983479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Owner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5486399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Stats, listing statuses (active / paused / archived) and bulk actions in one 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06  /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8F5F2"/>
                </a:solidFill>
                <a:latin typeface="Calibri"/>
              </a:rPr>
              <a:t>From push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A0AEC0"/>
                </a:solidFill>
                <a:latin typeface="Calibri"/>
              </a:rPr>
              <a:t>GitHub → GitLab mirror → CI build → registry → Kubernetes rollout.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972800" cy="3657600"/>
          </a:xfrm>
          <a:prstGeom prst="roundRect">
            <a:avLst>
              <a:gd name="adj" fmla="val 3000"/>
            </a:avLst>
          </a:prstGeom>
          <a:solidFill>
            <a:srgbClr val="ECE6E0"/>
          </a:solidFill>
          <a:ln w="15875">
            <a:solidFill>
              <a:srgbClr val="B8AE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B8AEA4"/>
                </a:solidFill>
                <a:latin typeface="Calibri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7A6F65"/>
                </a:solidFill>
                <a:latin typeface="Calibri"/>
              </a:rPr>
              <a:t>Architecture / pipeline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07  /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Future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E11D48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2651760"/>
            <a:ext cx="18288" cy="548640"/>
          </a:xfrm>
          <a:prstGeom prst="rect">
            <a:avLst/>
          </a:prstGeom>
          <a:solidFill>
            <a:srgbClr val="E8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65960" y="263347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Payments &amp; deposits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971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Stripe-powered booking deposits with refundable holds and owner payouts.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E11D48"/>
                </a:solidFill>
                <a:latin typeface="Calibri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3657600"/>
            <a:ext cx="18288" cy="548640"/>
          </a:xfrm>
          <a:prstGeom prst="rect">
            <a:avLst/>
          </a:prstGeom>
          <a:solidFill>
            <a:srgbClr val="E8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36393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Map-based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977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Cluster-based map view with on-map filters and bounding-box queries on the 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8056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E11D48"/>
                </a:solidFill>
                <a:latin typeface="Calibr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4663440"/>
            <a:ext cx="18288" cy="548640"/>
          </a:xfrm>
          <a:prstGeom prst="rect">
            <a:avLst/>
          </a:prstGeom>
          <a:solidFill>
            <a:srgbClr val="E8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65960" y="46451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983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Real-time WebSocket inbox plus email digests for new messages and viewing requests.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8640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57784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E11D48"/>
                </a:solidFill>
                <a:latin typeface="Calibri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5669280"/>
            <a:ext cx="18288" cy="548640"/>
          </a:xfrm>
          <a:prstGeom prst="rect">
            <a:avLst/>
          </a:prstGeom>
          <a:solidFill>
            <a:srgbClr val="E8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65960" y="565099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Owner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9893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Per-listing views, lead funnel, response time and revenue projections.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  <a:latin typeface="Calibri"/>
              </a:rPr>
              <a:t>08  / 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What I've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E11D48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31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Ship a full-stack feature.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7004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From a Liquibase migration to an Angular signal — owning every layer of one feature is a different skill than writing isolated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E11D4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154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Boundaries pay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49300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Keeping the domain free of Spring / JPA made writing tests and swapping the geocoder painless.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E11D48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977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Async UX is the hard part.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31596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Optimistic state, server validation errors and Angular change detection (NG0100) only show up when you wire real network calls.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E11D48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00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Pipelines beat manual deploys.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13892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Once GitHub → GitLab → K8s was wired, iteration speed jumped. The pipeline is the product.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E11D48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Sweat the small things.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96188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Toast wording, button disabled states, photo order — the invisible details decide whether the app feels finished.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F8F5F2"/>
                </a:solidFill>
                <a:latin typeface="Calibri"/>
              </a:rPr>
              <a:t>Thank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297680"/>
            <a:ext cx="457200" cy="457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A0AEC0"/>
                </a:solidFill>
                <a:latin typeface="Calibri"/>
              </a:rPr>
              <a:t>Questions, code review, follow-up — all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11D48"/>
                </a:solidFill>
                <a:latin typeface="Calibri"/>
              </a:rPr>
              <a:t>OLEH POIASNIK  ·  FSA-RENTAL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668</Words>
  <Application>Microsoft Office PowerPoint</Application>
  <PresentationFormat>Widescreen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Oleh Poiasnik</cp:lastModifiedBy>
  <cp:revision>3</cp:revision>
  <dcterms:created xsi:type="dcterms:W3CDTF">2013-01-27T09:14:16Z</dcterms:created>
  <dcterms:modified xsi:type="dcterms:W3CDTF">2026-05-26T14:10:08Z</dcterms:modified>
  <cp:category/>
</cp:coreProperties>
</file>