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3" r:id="rId9"/>
    <p:sldId id="268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32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45720" cy="64008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58952" y="822960"/>
            <a:ext cx="54864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>
                <a:solidFill>
                  <a:srgbClr val="A0AEC0"/>
                </a:solidFill>
                <a:latin typeface="Calibri"/>
              </a:rPr>
              <a:t>FSA-</a:t>
            </a:r>
            <a:r>
              <a:rPr lang="en-US" sz="1200" b="1" dirty="0">
                <a:solidFill>
                  <a:srgbClr val="A0AEC0"/>
                </a:solidFill>
                <a:latin typeface="Calibri"/>
              </a:rPr>
              <a:t>PROJECT</a:t>
            </a:r>
            <a:r>
              <a:rPr sz="1200" b="1" dirty="0">
                <a:solidFill>
                  <a:srgbClr val="A0AEC0"/>
                </a:solidFill>
                <a:latin typeface="Calibri"/>
              </a:rPr>
              <a:t>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1354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8800" b="1" dirty="0">
                <a:solidFill>
                  <a:srgbClr val="F8F5F2"/>
                </a:solidFill>
                <a:latin typeface="Calibri"/>
              </a:rPr>
              <a:t>RENTAREA</a:t>
            </a:r>
            <a:endParaRPr sz="8800" b="1" dirty="0">
              <a:solidFill>
                <a:srgbClr val="F8F5F2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dirty="0">
                <a:solidFill>
                  <a:srgbClr val="A0AEC0"/>
                </a:solidFill>
                <a:latin typeface="Calibri"/>
              </a:rPr>
              <a:t>A modern property rental platform — built end-to-end.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>
                <a:solidFill>
                  <a:srgbClr val="E11D48"/>
                </a:solidFill>
                <a:latin typeface="Calibri"/>
              </a:rPr>
              <a:t>PRESENTED BY OLEH POIASNIK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126480"/>
            <a:ext cx="384048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b="1" dirty="0">
                <a:solidFill>
                  <a:srgbClr val="A0AEC0"/>
                </a:solidFill>
              </a:rPr>
              <a:t>rent-area.com</a:t>
            </a:r>
            <a:endParaRPr sz="1200" b="1" dirty="0">
              <a:solidFill>
                <a:srgbClr val="A0AEC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01  / 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9144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dirty="0">
                <a:solidFill>
                  <a:srgbClr val="0F172A"/>
                </a:solidFill>
                <a:latin typeface="Calibri"/>
              </a:rPr>
              <a:t>Problems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5176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960120" y="3017520"/>
            <a:ext cx="320040" cy="3657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960120" y="3154680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PROBLEM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66160"/>
            <a:ext cx="2971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F8F5F2"/>
                </a:solidFill>
                <a:latin typeface="Calibri"/>
              </a:rPr>
              <a:t>Outdated listings.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754880"/>
            <a:ext cx="2971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>
                <a:solidFill>
                  <a:srgbClr val="A0AEC0"/>
                </a:solidFill>
                <a:latin typeface="Calibri"/>
              </a:rPr>
              <a:t>Renters scroll through stale ads with vague addresses, missing photos and no way to verify if the place is still available.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65176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1" name="Rectangle 10"/>
          <p:cNvSpPr/>
          <p:nvPr/>
        </p:nvSpPr>
        <p:spPr>
          <a:xfrm>
            <a:off x="4754880" y="3017520"/>
            <a:ext cx="320040" cy="3657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4754880" y="3154680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PROBLEM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566160"/>
            <a:ext cx="2971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F8F5F2"/>
                </a:solidFill>
                <a:latin typeface="Calibri"/>
              </a:rPr>
              <a:t>No tooling for owners.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4754880"/>
            <a:ext cx="2971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>
                <a:solidFill>
                  <a:srgbClr val="A0AEC0"/>
                </a:solidFill>
                <a:latin typeface="Calibri"/>
              </a:rPr>
              <a:t>Posting a property is a manual chore — photos, geocoding and updates are spread across spreadsheets and messengers.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65176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6" name="Rectangle 15"/>
          <p:cNvSpPr/>
          <p:nvPr/>
        </p:nvSpPr>
        <p:spPr>
          <a:xfrm>
            <a:off x="8549640" y="3017520"/>
            <a:ext cx="320040" cy="3657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8549640" y="3154680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PROBLEM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3566160"/>
            <a:ext cx="2971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F8F5F2"/>
                </a:solidFill>
                <a:latin typeface="Calibri"/>
              </a:rPr>
              <a:t>Fragmented communication.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4754880"/>
            <a:ext cx="2971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>
                <a:solidFill>
                  <a:srgbClr val="A0AEC0"/>
                </a:solidFill>
                <a:latin typeface="Calibri"/>
              </a:rPr>
              <a:t>Renters and owners juggle phone, WhatsApp and email. There is no shared place to chat, book a viewing and keep history.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02  /  APPROACH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868680"/>
            <a:ext cx="4937760" cy="1143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493776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dirty="0">
                <a:solidFill>
                  <a:srgbClr val="F8F5F2"/>
                </a:solidFill>
                <a:latin typeface="Calibri"/>
              </a:rPr>
              <a:t>Methodology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1752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051560" y="3520440"/>
            <a:ext cx="46634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dirty="0">
                <a:solidFill>
                  <a:srgbClr val="E11D48"/>
                </a:solidFill>
                <a:latin typeface="Calibri"/>
              </a:rPr>
              <a:t>DDD </a:t>
            </a:r>
            <a:r>
              <a:rPr sz="1300" b="0" dirty="0">
                <a:solidFill>
                  <a:srgbClr val="0F172A"/>
                </a:solidFill>
                <a:latin typeface="Calibri"/>
              </a:rPr>
              <a:t>MODELS THE BUSINESS DOMAIN IN CODE. TDD DRIVES EACH FEATURE WITH TESTS WRITTEN BEFORE THE IMPLEMENTATION.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37360" y="274320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737360" y="2743200"/>
            <a:ext cx="32918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dirty="0">
                <a:solidFill>
                  <a:srgbClr val="F8F5F2"/>
                </a:solidFill>
                <a:latin typeface="Calibri"/>
              </a:rPr>
              <a:t>DDD &amp; TDD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01752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6812280" y="3520440"/>
            <a:ext cx="46634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dirty="0">
                <a:solidFill>
                  <a:srgbClr val="E11D48"/>
                </a:solidFill>
                <a:latin typeface="Calibri"/>
              </a:rPr>
              <a:t>A DESIGN PATTERN </a:t>
            </a:r>
            <a:r>
              <a:rPr sz="1300" b="0" dirty="0">
                <a:solidFill>
                  <a:srgbClr val="0F172A"/>
                </a:solidFill>
                <a:latin typeface="Calibri"/>
              </a:rPr>
              <a:t>THAT SEPARATES CONCERNS AND ISOLATES THE APPLICATION CORE FROM EXTERNAL DEPENDENCIES.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0" y="274320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7498080" y="2743200"/>
            <a:ext cx="32918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dirty="0">
                <a:solidFill>
                  <a:srgbClr val="F8F5F2"/>
                </a:solidFill>
                <a:latin typeface="Calibri"/>
              </a:rPr>
              <a:t>Hexagonal Architecture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12064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1051560" y="5623560"/>
            <a:ext cx="46634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dirty="0">
                <a:solidFill>
                  <a:srgbClr val="E11D48"/>
                </a:solidFill>
                <a:latin typeface="Calibri"/>
              </a:rPr>
              <a:t>AN ARCHITECTURAL STYLE </a:t>
            </a:r>
            <a:r>
              <a:rPr sz="1300" b="0" dirty="0">
                <a:solidFill>
                  <a:srgbClr val="0F172A"/>
                </a:solidFill>
                <a:latin typeface="Calibri"/>
              </a:rPr>
              <a:t>FOR NETWORKED APPLICATIONS — A SCALABLE, FLEXIBLE APPROACH TO BUILDING WEB APPS.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37360" y="484632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1737360" y="4846320"/>
            <a:ext cx="32918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dirty="0">
                <a:solidFill>
                  <a:srgbClr val="F8F5F2"/>
                </a:solidFill>
                <a:latin typeface="Calibri"/>
              </a:rPr>
              <a:t>REST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512064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6812280" y="5623560"/>
            <a:ext cx="46634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dirty="0">
                <a:solidFill>
                  <a:srgbClr val="E11D48"/>
                </a:solidFill>
                <a:latin typeface="Calibri"/>
              </a:rPr>
              <a:t>A SET OF PRACTICES </a:t>
            </a:r>
            <a:r>
              <a:rPr sz="1300" b="0" dirty="0">
                <a:solidFill>
                  <a:srgbClr val="0F172A"/>
                </a:solidFill>
                <a:latin typeface="Calibri"/>
              </a:rPr>
              <a:t>THAT IMPROVE COLLABORATION AND COMMUNICATION BETWEEN DEVELOPMENT AND IT OPERATIONS TEAMS.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0" y="484632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1" name="TextBox 20"/>
          <p:cNvSpPr txBox="1"/>
          <p:nvPr/>
        </p:nvSpPr>
        <p:spPr>
          <a:xfrm>
            <a:off x="7498080" y="4846320"/>
            <a:ext cx="32918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dirty="0">
                <a:solidFill>
                  <a:srgbClr val="F8F5F2"/>
                </a:solidFill>
                <a:latin typeface="Calibri"/>
              </a:rPr>
              <a:t>DevOps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03  / 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dirty="0">
                <a:solidFill>
                  <a:srgbClr val="0F172A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5176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1005840" y="3063240"/>
            <a:ext cx="320040" cy="3657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005840" y="3154680"/>
            <a:ext cx="2880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0F172A"/>
                </a:solidFill>
                <a:latin typeface="Calibri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65176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Rectangle 8"/>
          <p:cNvSpPr/>
          <p:nvPr/>
        </p:nvSpPr>
        <p:spPr>
          <a:xfrm>
            <a:off x="4800600" y="3063240"/>
            <a:ext cx="320040" cy="3657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4800600" y="3154680"/>
            <a:ext cx="2880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0F172A"/>
                </a:solidFill>
                <a:latin typeface="Calibri"/>
              </a:rPr>
              <a:t>Back-end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65176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8595360" y="3063240"/>
            <a:ext cx="320040" cy="3657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8595360" y="3154680"/>
            <a:ext cx="2880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0F172A"/>
                </a:solidFill>
                <a:latin typeface="Calibri"/>
              </a:rPr>
              <a:t>DevOps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E3173B1-B98B-C9FE-3816-14F17EBA2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8" y="3712464"/>
            <a:ext cx="649226" cy="64922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0DEFE51-B533-A2E6-EDEC-1B45AC74A5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9280" y="3713690"/>
            <a:ext cx="648000" cy="648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827FAB1-9312-881E-FA32-B704E39217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5792" y="4737818"/>
            <a:ext cx="648000" cy="648000"/>
          </a:xfrm>
          <a:prstGeom prst="rect">
            <a:avLst/>
          </a:prstGeom>
        </p:spPr>
      </p:pic>
      <p:pic>
        <p:nvPicPr>
          <p:cNvPr id="20" name="Picture 19" descr="Spring Framework Logo Svg , Png Download - Java Spring - (504x362) Png  Clipart Download">
            <a:extLst>
              <a:ext uri="{FF2B5EF4-FFF2-40B4-BE49-F238E27FC236}">
                <a16:creationId xmlns:a16="http://schemas.microsoft.com/office/drawing/2014/main" id="{B048649D-3E10-A79E-7EFC-C3D44BF461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713690"/>
            <a:ext cx="902188" cy="648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324DD2F-9FEE-1F33-B208-D02B0EDACF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7847" y="4538174"/>
            <a:ext cx="648000" cy="648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DF92518-96E3-121F-7677-4C426C5146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52289" y="3697002"/>
            <a:ext cx="628671" cy="62867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996F63F-8658-E6AC-5B12-00F34019EB4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78727" y="4634482"/>
            <a:ext cx="609604" cy="609604"/>
          </a:xfrm>
          <a:prstGeom prst="rect">
            <a:avLst/>
          </a:prstGeom>
        </p:spPr>
      </p:pic>
      <p:pic>
        <p:nvPicPr>
          <p:cNvPr id="27" name="Picture 26" descr="File:Kubernetes logo without workmark.svg - Wikimedia Commons">
            <a:extLst>
              <a:ext uri="{FF2B5EF4-FFF2-40B4-BE49-F238E27FC236}">
                <a16:creationId xmlns:a16="http://schemas.microsoft.com/office/drawing/2014/main" id="{AD00687F-736B-1229-D27A-F07A7AA746C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18663" y="3777696"/>
            <a:ext cx="668525" cy="648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C010018-839E-E659-EADF-2AD3F7A08C4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92776" y="3802694"/>
            <a:ext cx="648000" cy="648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DABFCDA3-9792-43AD-7228-8E489AEF159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87188" y="4862174"/>
            <a:ext cx="648000" cy="648000"/>
          </a:xfrm>
          <a:prstGeom prst="rect">
            <a:avLst/>
          </a:prstGeom>
        </p:spPr>
      </p:pic>
      <p:pic>
        <p:nvPicPr>
          <p:cNvPr id="32" name="Picture 31" descr="File:Microsoft Azure.svg - Wikimedia Commons">
            <a:extLst>
              <a:ext uri="{FF2B5EF4-FFF2-40B4-BE49-F238E27FC236}">
                <a16:creationId xmlns:a16="http://schemas.microsoft.com/office/drawing/2014/main" id="{79274CDB-37E5-CC5D-DD08-66757905019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44776" y="4862174"/>
            <a:ext cx="648000" cy="64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04  / 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dirty="0">
                <a:solidFill>
                  <a:srgbClr val="F8F5F2"/>
                </a:solidFill>
                <a:latin typeface="Calibri"/>
              </a:rPr>
              <a:t>Access on any device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dirty="0">
                <a:solidFill>
                  <a:srgbClr val="A0AEC0"/>
                </a:solidFill>
                <a:latin typeface="Calibri"/>
              </a:rPr>
              <a:t>Mobile-first responsive layout — desktop, tablet, phone share the same component tree.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17990"/>
            <a:ext cx="7315200" cy="3308019"/>
          </a:xfrm>
          <a:prstGeom prst="roundRect">
            <a:avLst>
              <a:gd name="adj" fmla="val 3000"/>
            </a:avLst>
          </a:prstGeom>
          <a:solidFill>
            <a:srgbClr val="ECE6E0"/>
          </a:solidFill>
          <a:ln w="15875">
            <a:solidFill>
              <a:srgbClr val="B8AE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640080" y="42519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dirty="0">
                <a:solidFill>
                  <a:srgbClr val="B8AEA4"/>
                </a:solidFill>
                <a:latin typeface="Calibri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091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dirty="0">
                <a:solidFill>
                  <a:srgbClr val="7A6F65"/>
                </a:solidFill>
                <a:latin typeface="Calibri"/>
              </a:rPr>
              <a:t>Desktop screenshot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17278" y="2743200"/>
            <a:ext cx="2574978" cy="3595050"/>
          </a:xfrm>
          <a:prstGeom prst="roundRect">
            <a:avLst>
              <a:gd name="adj" fmla="val 3000"/>
            </a:avLst>
          </a:prstGeom>
          <a:solidFill>
            <a:srgbClr val="ECE6E0"/>
          </a:solidFill>
          <a:ln w="15875">
            <a:solidFill>
              <a:srgbClr val="B8AE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8229600" y="425196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dirty="0">
                <a:solidFill>
                  <a:srgbClr val="B8AEA4"/>
                </a:solidFill>
                <a:latin typeface="Calibri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70916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dirty="0">
                <a:solidFill>
                  <a:srgbClr val="7A6F65"/>
                </a:solidFill>
                <a:latin typeface="Calibri"/>
              </a:rPr>
              <a:t>Mobile screenshot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D6AC1C9-B3F1-628B-F61F-7DF0DE5FD4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17990"/>
            <a:ext cx="7315200" cy="330801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D163230-6361-3AA6-EEE4-FD741F03EF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278" y="2216416"/>
            <a:ext cx="2574978" cy="412183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05  / 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dirty="0">
                <a:solidFill>
                  <a:srgbClr val="0F172A"/>
                </a:solidFill>
                <a:latin typeface="Calibri"/>
              </a:rPr>
              <a:t>What it does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960120" y="265176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92608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dirty="0">
                <a:solidFill>
                  <a:srgbClr val="0F172A"/>
                </a:solidFill>
                <a:latin typeface="Calibri"/>
              </a:rPr>
              <a:t>Multi-step wizard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429000"/>
            <a:ext cx="2971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>
                <a:solidFill>
                  <a:srgbClr val="64748B"/>
                </a:solidFill>
                <a:latin typeface="Calibri"/>
              </a:rPr>
              <a:t>Listing creation in six guided steps with per-step validation, edit mode support and inline server errors.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377440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4754880" y="265176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92608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dirty="0">
                <a:solidFill>
                  <a:srgbClr val="0F172A"/>
                </a:solidFill>
                <a:latin typeface="Calibri"/>
              </a:rPr>
              <a:t>Geocoded address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429000"/>
            <a:ext cx="2971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>
                <a:solidFill>
                  <a:srgbClr val="64748B"/>
                </a:solidFill>
                <a:latin typeface="Calibri"/>
              </a:rPr>
              <a:t>Every address is verified and geocoded via </a:t>
            </a:r>
            <a:r>
              <a:rPr sz="1200" b="0" dirty="0" err="1">
                <a:solidFill>
                  <a:srgbClr val="64748B"/>
                </a:solidFill>
                <a:latin typeface="Calibri"/>
              </a:rPr>
              <a:t>Nominatim</a:t>
            </a:r>
            <a:r>
              <a:rPr sz="1200" b="0" dirty="0">
                <a:solidFill>
                  <a:srgbClr val="64748B"/>
                </a:solidFill>
                <a:latin typeface="Calibri"/>
              </a:rPr>
              <a:t> — coordinates persisted on the listing.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377440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49640" y="265176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11D48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292608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Calibri"/>
              </a:rPr>
              <a:t>Photo gallery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3429000"/>
            <a:ext cx="2971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Up to 20 photos per listing. First image becomes the cover; upload, preview and remove before publishing.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434839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4709159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11D48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983479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Calibri"/>
              </a:rPr>
              <a:t>In-app messaging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486399"/>
            <a:ext cx="2971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Renters and owners chat per-listing. Read receipts, unread count and listing context always visible.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34840" y="4434839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54880" y="4709159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11D48"/>
                </a:solidFill>
                <a:latin typeface="Calibr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4983479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Calibri"/>
              </a:rPr>
              <a:t>Viewing requests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5486399"/>
            <a:ext cx="2971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Booking flow with date and optional notes. Owner can confirm or decline each request from the dashboard.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4434839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549640" y="4709159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11D48"/>
                </a:solidFill>
                <a:latin typeface="Calibr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4983479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Calibri"/>
              </a:rPr>
              <a:t>Owner dashboard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5486399"/>
            <a:ext cx="2971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Stats, listing statuses (active / inactive) and per-listing actions — activate, deactivate or delete.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11D48"/>
                </a:solidFill>
                <a:latin typeface="Calibri"/>
              </a:rPr>
              <a:t>DEVELOPMENT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0" b="1">
                <a:solidFill>
                  <a:srgbClr val="F8F5F2"/>
                </a:solidFill>
                <a:latin typeface="Calibri"/>
              </a:rPr>
              <a:t>Development stages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731233" y="2788920"/>
            <a:ext cx="8729228" cy="22860"/>
          </a:xfrm>
          <a:prstGeom prst="rect">
            <a:avLst/>
          </a:prstGeom>
          <a:solidFill>
            <a:srgbClr val="263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402049" y="1874519"/>
            <a:ext cx="658368" cy="658368"/>
          </a:xfrm>
          <a:prstGeom prst="ellipse">
            <a:avLst/>
          </a:prstGeom>
          <a:solidFill>
            <a:srgbClr val="1A2332"/>
          </a:solidFill>
          <a:ln w="254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02049" y="1874519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E11D48"/>
                </a:solidFill>
                <a:latin typeface="Calibri"/>
              </a:rPr>
              <a:t>01</a:t>
            </a:r>
          </a:p>
        </p:txBody>
      </p:sp>
      <p:sp>
        <p:nvSpPr>
          <p:cNvPr id="8" name="Oval 7"/>
          <p:cNvSpPr/>
          <p:nvPr/>
        </p:nvSpPr>
        <p:spPr>
          <a:xfrm>
            <a:off x="1648937" y="2706624"/>
            <a:ext cx="164592" cy="164592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717517" y="2532887"/>
            <a:ext cx="27432" cy="256033"/>
          </a:xfrm>
          <a:prstGeom prst="rect">
            <a:avLst/>
          </a:prstGeom>
          <a:solidFill>
            <a:srgbClr val="263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3794760"/>
            <a:ext cx="1999427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F8F5F2"/>
                </a:solidFill>
                <a:latin typeface="Calibri"/>
              </a:rPr>
              <a:t>Domain</a:t>
            </a:r>
          </a:p>
          <a:p>
            <a:pPr algn="ctr"/>
            <a:r>
              <a:rPr sz="1600" b="1">
                <a:solidFill>
                  <a:srgbClr val="F8F5F2"/>
                </a:solidFill>
                <a:latin typeface="Calibri"/>
              </a:rP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63440"/>
            <a:ext cx="1999427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Entities, value objects</a:t>
            </a:r>
          </a:p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and business rules</a:t>
            </a:r>
          </a:p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with DDD</a:t>
            </a:r>
          </a:p>
        </p:txBody>
      </p:sp>
      <p:sp>
        <p:nvSpPr>
          <p:cNvPr id="12" name="Oval 11"/>
          <p:cNvSpPr/>
          <p:nvPr/>
        </p:nvSpPr>
        <p:spPr>
          <a:xfrm>
            <a:off x="3584356" y="1874519"/>
            <a:ext cx="658368" cy="658368"/>
          </a:xfrm>
          <a:prstGeom prst="ellipse">
            <a:avLst/>
          </a:prstGeom>
          <a:solidFill>
            <a:srgbClr val="1A2332"/>
          </a:solidFill>
          <a:ln w="254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84356" y="1874519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E11D48"/>
                </a:solidFill>
                <a:latin typeface="Calibri"/>
              </a:rPr>
              <a:t>02</a:t>
            </a:r>
          </a:p>
        </p:txBody>
      </p:sp>
      <p:sp>
        <p:nvSpPr>
          <p:cNvPr id="14" name="Oval 13"/>
          <p:cNvSpPr/>
          <p:nvPr/>
        </p:nvSpPr>
        <p:spPr>
          <a:xfrm>
            <a:off x="3831244" y="2706624"/>
            <a:ext cx="164592" cy="164592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899824" y="2532887"/>
            <a:ext cx="27432" cy="256033"/>
          </a:xfrm>
          <a:prstGeom prst="rect">
            <a:avLst/>
          </a:prstGeom>
          <a:solidFill>
            <a:srgbClr val="263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13827" y="3794760"/>
            <a:ext cx="1999427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F8F5F2"/>
                </a:solidFill>
                <a:latin typeface="Calibri"/>
              </a:rPr>
              <a:t>API</a:t>
            </a:r>
          </a:p>
          <a:p>
            <a:pPr algn="ctr"/>
            <a:r>
              <a:rPr sz="1600" b="1">
                <a:solidFill>
                  <a:srgbClr val="F8F5F2"/>
                </a:solidFill>
                <a:latin typeface="Calibri"/>
              </a:rPr>
              <a:t>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3827" y="4663440"/>
            <a:ext cx="1999427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OpenAPI spec, REST</a:t>
            </a:r>
          </a:p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endpoints and</a:t>
            </a:r>
          </a:p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MapStruct DTOs</a:t>
            </a:r>
          </a:p>
        </p:txBody>
      </p:sp>
      <p:sp>
        <p:nvSpPr>
          <p:cNvPr id="18" name="Oval 17"/>
          <p:cNvSpPr/>
          <p:nvPr/>
        </p:nvSpPr>
        <p:spPr>
          <a:xfrm>
            <a:off x="5766663" y="1874519"/>
            <a:ext cx="658368" cy="658368"/>
          </a:xfrm>
          <a:prstGeom prst="ellipse">
            <a:avLst/>
          </a:prstGeom>
          <a:solidFill>
            <a:srgbClr val="1A2332"/>
          </a:solidFill>
          <a:ln w="254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66663" y="1874519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E11D48"/>
                </a:solidFill>
                <a:latin typeface="Calibri"/>
              </a:rPr>
              <a:t>03</a:t>
            </a:r>
          </a:p>
        </p:txBody>
      </p:sp>
      <p:sp>
        <p:nvSpPr>
          <p:cNvPr id="20" name="Oval 19"/>
          <p:cNvSpPr/>
          <p:nvPr/>
        </p:nvSpPr>
        <p:spPr>
          <a:xfrm>
            <a:off x="6013551" y="2706624"/>
            <a:ext cx="164592" cy="164592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082131" y="2532887"/>
            <a:ext cx="27432" cy="256033"/>
          </a:xfrm>
          <a:prstGeom prst="rect">
            <a:avLst/>
          </a:prstGeom>
          <a:solidFill>
            <a:srgbClr val="263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96134" y="3794760"/>
            <a:ext cx="1999427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F8F5F2"/>
                </a:solidFill>
                <a:latin typeface="Calibri"/>
              </a:rPr>
              <a:t>Back-end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6134" y="4663440"/>
            <a:ext cx="1999427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Spring Boot 4, JPA,</a:t>
            </a:r>
          </a:p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PostgreSQL, Liquibase</a:t>
            </a:r>
          </a:p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and Keycloak auth</a:t>
            </a:r>
          </a:p>
        </p:txBody>
      </p:sp>
      <p:sp>
        <p:nvSpPr>
          <p:cNvPr id="24" name="Oval 23"/>
          <p:cNvSpPr/>
          <p:nvPr/>
        </p:nvSpPr>
        <p:spPr>
          <a:xfrm>
            <a:off x="7948970" y="1874519"/>
            <a:ext cx="658368" cy="658368"/>
          </a:xfrm>
          <a:prstGeom prst="ellipse">
            <a:avLst/>
          </a:prstGeom>
          <a:solidFill>
            <a:srgbClr val="1A2332"/>
          </a:solidFill>
          <a:ln w="254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48970" y="1874519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E11D48"/>
                </a:solidFill>
                <a:latin typeface="Calibri"/>
              </a:rPr>
              <a:t>04</a:t>
            </a:r>
          </a:p>
        </p:txBody>
      </p:sp>
      <p:sp>
        <p:nvSpPr>
          <p:cNvPr id="26" name="Oval 25"/>
          <p:cNvSpPr/>
          <p:nvPr/>
        </p:nvSpPr>
        <p:spPr>
          <a:xfrm>
            <a:off x="8195858" y="2706624"/>
            <a:ext cx="164592" cy="164592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264438" y="2532887"/>
            <a:ext cx="27432" cy="256033"/>
          </a:xfrm>
          <a:prstGeom prst="rect">
            <a:avLst/>
          </a:prstGeom>
          <a:solidFill>
            <a:srgbClr val="263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278441" y="3794760"/>
            <a:ext cx="1999427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F8F5F2"/>
                </a:solidFill>
                <a:latin typeface="Calibri"/>
              </a:rPr>
              <a:t>Front-end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78441" y="4663440"/>
            <a:ext cx="1999427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dirty="0">
                <a:solidFill>
                  <a:srgbClr val="A0AEC0"/>
                </a:solidFill>
                <a:latin typeface="Calibri"/>
              </a:rPr>
              <a:t>Angular,</a:t>
            </a:r>
            <a:r>
              <a:rPr lang="en-US" sz="1200" b="0" dirty="0">
                <a:solidFill>
                  <a:srgbClr val="A0AEC0"/>
                </a:solidFill>
                <a:latin typeface="Calibri"/>
              </a:rPr>
              <a:t> TS,</a:t>
            </a:r>
            <a:r>
              <a:rPr lang="ru-RU" sz="1200" b="0" dirty="0">
                <a:solidFill>
                  <a:srgbClr val="A0AEC0"/>
                </a:solidFill>
                <a:latin typeface="Calibri"/>
              </a:rPr>
              <a:t> </a:t>
            </a:r>
            <a:endParaRPr sz="1200" b="0" dirty="0">
              <a:solidFill>
                <a:srgbClr val="A0AEC0"/>
              </a:solidFill>
              <a:latin typeface="Calibri"/>
            </a:endParaRPr>
          </a:p>
          <a:p>
            <a:pPr algn="ctr"/>
            <a:r>
              <a:rPr sz="1200" b="0" dirty="0">
                <a:solidFill>
                  <a:srgbClr val="A0AEC0"/>
                </a:solidFill>
                <a:latin typeface="Calibri"/>
              </a:rPr>
              <a:t>Reactive Forms</a:t>
            </a:r>
          </a:p>
          <a:p>
            <a:pPr algn="ctr"/>
            <a:r>
              <a:rPr sz="1200" b="0" dirty="0">
                <a:solidFill>
                  <a:srgbClr val="A0AEC0"/>
                </a:solidFill>
                <a:latin typeface="Calibri"/>
              </a:rPr>
              <a:t>and SCSS</a:t>
            </a:r>
          </a:p>
        </p:txBody>
      </p:sp>
      <p:sp>
        <p:nvSpPr>
          <p:cNvPr id="30" name="Oval 29"/>
          <p:cNvSpPr/>
          <p:nvPr/>
        </p:nvSpPr>
        <p:spPr>
          <a:xfrm>
            <a:off x="10131277" y="1874519"/>
            <a:ext cx="658368" cy="658368"/>
          </a:xfrm>
          <a:prstGeom prst="ellipse">
            <a:avLst/>
          </a:prstGeom>
          <a:solidFill>
            <a:srgbClr val="1A2332"/>
          </a:solidFill>
          <a:ln w="254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1" name="TextBox 30"/>
          <p:cNvSpPr txBox="1"/>
          <p:nvPr/>
        </p:nvSpPr>
        <p:spPr>
          <a:xfrm>
            <a:off x="10131277" y="1874519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dirty="0">
                <a:solidFill>
                  <a:srgbClr val="E11D48"/>
                </a:solidFill>
                <a:latin typeface="Calibri"/>
              </a:rPr>
              <a:t>05</a:t>
            </a:r>
          </a:p>
        </p:txBody>
      </p:sp>
      <p:sp>
        <p:nvSpPr>
          <p:cNvPr id="32" name="Oval 31"/>
          <p:cNvSpPr/>
          <p:nvPr/>
        </p:nvSpPr>
        <p:spPr>
          <a:xfrm>
            <a:off x="10378165" y="2706624"/>
            <a:ext cx="164592" cy="164592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3" name="Rectangle 32"/>
          <p:cNvSpPr/>
          <p:nvPr/>
        </p:nvSpPr>
        <p:spPr>
          <a:xfrm>
            <a:off x="10446745" y="2532887"/>
            <a:ext cx="27432" cy="256033"/>
          </a:xfrm>
          <a:prstGeom prst="rect">
            <a:avLst/>
          </a:prstGeom>
          <a:solidFill>
            <a:srgbClr val="263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4" name="TextBox 33"/>
          <p:cNvSpPr txBox="1"/>
          <p:nvPr/>
        </p:nvSpPr>
        <p:spPr>
          <a:xfrm>
            <a:off x="9460748" y="3794760"/>
            <a:ext cx="1999427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dirty="0">
                <a:solidFill>
                  <a:srgbClr val="F8F5F2"/>
                </a:solidFill>
                <a:latin typeface="Calibri"/>
              </a:rPr>
              <a:t>Deploy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0748" y="4663440"/>
            <a:ext cx="1999427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dirty="0">
                <a:solidFill>
                  <a:srgbClr val="A0AEC0"/>
                </a:solidFill>
                <a:latin typeface="Calibri"/>
              </a:rPr>
              <a:t>Docker, GitLab CI/CD,</a:t>
            </a:r>
          </a:p>
          <a:p>
            <a:pPr algn="ctr"/>
            <a:r>
              <a:rPr sz="1200" b="0" dirty="0">
                <a:solidFill>
                  <a:srgbClr val="A0AEC0"/>
                </a:solidFill>
                <a:latin typeface="Calibri"/>
              </a:rPr>
              <a:t>Azure ACR and</a:t>
            </a:r>
          </a:p>
          <a:p>
            <a:pPr algn="ctr"/>
            <a:r>
              <a:rPr sz="1200" b="0" dirty="0">
                <a:solidFill>
                  <a:srgbClr val="A0AEC0"/>
                </a:solidFill>
                <a:latin typeface="Calibri"/>
              </a:rPr>
              <a:t>Kubernetes rollout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07  / 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dirty="0">
                <a:solidFill>
                  <a:srgbClr val="0F172A"/>
                </a:solidFill>
                <a:latin typeface="Calibri"/>
              </a:rPr>
              <a:t>Future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10972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822960" y="256032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dirty="0">
                <a:solidFill>
                  <a:srgbClr val="E11D48"/>
                </a:solidFill>
                <a:latin typeface="Calibr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737360" y="2651760"/>
            <a:ext cx="18288" cy="548640"/>
          </a:xfrm>
          <a:prstGeom prst="rect">
            <a:avLst/>
          </a:prstGeom>
          <a:solidFill>
            <a:srgbClr val="E8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1965960" y="26334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dirty="0">
                <a:solidFill>
                  <a:srgbClr val="0F172A"/>
                </a:solidFill>
                <a:latin typeface="Calibri"/>
              </a:rPr>
              <a:t>Payments &amp; deposits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29718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>
                <a:solidFill>
                  <a:srgbClr val="64748B"/>
                </a:solidFill>
                <a:latin typeface="Calibri"/>
              </a:rPr>
              <a:t>Stripe-powered booking deposits with refundable holds and owner payouts.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74720"/>
            <a:ext cx="10972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822960" y="356616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dirty="0">
                <a:solidFill>
                  <a:srgbClr val="E11D48"/>
                </a:solidFill>
                <a:latin typeface="Calibri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7360" y="3657600"/>
            <a:ext cx="18288" cy="548640"/>
          </a:xfrm>
          <a:prstGeom prst="rect">
            <a:avLst/>
          </a:prstGeom>
          <a:solidFill>
            <a:srgbClr val="E8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1965960" y="3639312"/>
            <a:ext cx="9144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b="1" dirty="0">
                <a:solidFill>
                  <a:srgbClr val="0F172A"/>
                </a:solidFill>
                <a:latin typeface="Calibri"/>
              </a:rPr>
              <a:t>Reviews &amp; ratings</a:t>
            </a:r>
            <a:endParaRPr b="1" dirty="0">
              <a:solidFill>
                <a:srgbClr val="0F172A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965960" y="397764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200" dirty="0">
                <a:solidFill>
                  <a:srgbClr val="64748B"/>
                </a:solidFill>
                <a:latin typeface="Calibri"/>
              </a:rPr>
              <a:t>Let renters leave reviews for listings and owners after a viewing or stay</a:t>
            </a:r>
            <a:r>
              <a:rPr sz="1200" dirty="0">
                <a:solidFill>
                  <a:srgbClr val="64748B"/>
                </a:solidFill>
                <a:latin typeface="Calibri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80560"/>
            <a:ext cx="10972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822960" y="457200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dirty="0">
                <a:solidFill>
                  <a:srgbClr val="E11D48"/>
                </a:solidFill>
                <a:latin typeface="Calibri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7360" y="4663440"/>
            <a:ext cx="18288" cy="548640"/>
          </a:xfrm>
          <a:prstGeom prst="rect">
            <a:avLst/>
          </a:prstGeom>
          <a:solidFill>
            <a:srgbClr val="E8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1965960" y="4645152"/>
            <a:ext cx="9144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b="1" dirty="0">
                <a:solidFill>
                  <a:srgbClr val="0F172A"/>
                </a:solidFill>
                <a:latin typeface="Calibri"/>
              </a:rPr>
              <a:t>Saved search alerts</a:t>
            </a:r>
            <a:endParaRPr b="1" dirty="0">
              <a:solidFill>
                <a:srgbClr val="0F172A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965960" y="498348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200" dirty="0">
                <a:solidFill>
                  <a:srgbClr val="64748B"/>
                </a:solidFill>
                <a:latin typeface="Calibri"/>
              </a:rPr>
              <a:t>Notify users when a new listing matches their saved search criteria.</a:t>
            </a:r>
            <a:endParaRPr sz="1200" dirty="0">
              <a:solidFill>
                <a:srgbClr val="64748B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-386499" y="653683"/>
            <a:ext cx="3686118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dirty="0">
                <a:solidFill>
                  <a:srgbClr val="E11D48"/>
                </a:solidFill>
                <a:latin typeface="Calibri"/>
              </a:rPr>
              <a:t>08  /  TAKEAWAYS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69767" y="822960"/>
            <a:ext cx="5852160" cy="1371600"/>
          </a:xfrm>
          <a:prstGeom prst="roundRect">
            <a:avLst>
              <a:gd name="adj" fmla="val 5000"/>
            </a:avLst>
          </a:prstGeom>
          <a:noFill/>
          <a:ln w="28575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69767" y="822960"/>
            <a:ext cx="585216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600" b="1">
                <a:solidFill>
                  <a:srgbClr val="F8F5F2"/>
                </a:solidFill>
                <a:latin typeface="Calibri"/>
              </a:rPr>
              <a:t>What I've</a:t>
            </a:r>
          </a:p>
          <a:p>
            <a:pPr algn="ctr"/>
            <a:r>
              <a:rPr sz="3600" b="1">
                <a:solidFill>
                  <a:srgbClr val="F8F5F2"/>
                </a:solidFill>
                <a:latin typeface="Calibri"/>
              </a:rPr>
              <a:t>learned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423160"/>
            <a:ext cx="6400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>
                <a:solidFill>
                  <a:srgbClr val="E11D4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2423160"/>
            <a:ext cx="90525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F8F5F2"/>
                </a:solidFill>
                <a:latin typeface="Calibri"/>
              </a:rPr>
              <a:t>BUILD A FULL-STACK PRODUCT FROM SCRATCH — BACKEND, FRONTEND AND CLOUD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91840"/>
            <a:ext cx="6400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>
                <a:solidFill>
                  <a:srgbClr val="E11D48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291840"/>
            <a:ext cx="90525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F8F5F2"/>
                </a:solidFill>
                <a:latin typeface="Calibri"/>
              </a:rPr>
              <a:t>WRITE CLEAN, WELL-STRUCTURED CODE THAT IS EASY TO EXTEND AND MAINTAIN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160520"/>
            <a:ext cx="6400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>
                <a:solidFill>
                  <a:srgbClr val="E11D48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4160520"/>
            <a:ext cx="90525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F8F5F2"/>
                </a:solidFill>
                <a:latin typeface="Calibri"/>
              </a:rPr>
              <a:t>DESIGN A RESPONSIVE INTERFACE THAT WORKS BEAUTIFULLY ON ANY DEVICE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029200"/>
            <a:ext cx="6400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>
                <a:solidFill>
                  <a:srgbClr val="E11D48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5029200"/>
            <a:ext cx="90525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F8F5F2"/>
                </a:solidFill>
                <a:latin typeface="Calibri"/>
              </a:rPr>
              <a:t>DEPLOY AND RUN A REAL APPLICATION IN A PRODUCTION ENVIRONMENT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897880"/>
            <a:ext cx="6400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>
                <a:solidFill>
                  <a:srgbClr val="E11D48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5897880"/>
            <a:ext cx="90525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F8F5F2"/>
                </a:solidFill>
                <a:latin typeface="Calibri"/>
              </a:rPr>
              <a:t>SOLVE REAL PROBLEMS AND GROW AS A DEVELOPER WITH EVERY COMMIT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728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0" b="1" dirty="0">
                <a:solidFill>
                  <a:srgbClr val="F8F5F2"/>
                </a:solidFill>
                <a:latin typeface="Calibri"/>
              </a:rPr>
              <a:t>Thank you.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4297680"/>
            <a:ext cx="457200" cy="4572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6400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>
                <a:solidFill>
                  <a:srgbClr val="E11D48"/>
                </a:solidFill>
                <a:latin typeface="Calibri"/>
              </a:rPr>
              <a:t>OLEH POIASNIK  ·  FSA</a:t>
            </a:r>
            <a:r>
              <a:rPr lang="ru-RU" sz="1200" b="1" dirty="0">
                <a:solidFill>
                  <a:srgbClr val="E11D48"/>
                </a:solidFill>
                <a:latin typeface="Calibri"/>
              </a:rPr>
              <a:t> </a:t>
            </a:r>
            <a:r>
              <a:rPr lang="en-US" sz="1200" b="1" dirty="0">
                <a:solidFill>
                  <a:srgbClr val="E11D48"/>
                </a:solidFill>
                <a:latin typeface="Calibri"/>
              </a:rPr>
              <a:t>RENTAREA</a:t>
            </a:r>
            <a:endParaRPr sz="1200" b="1" dirty="0">
              <a:solidFill>
                <a:srgbClr val="E11D48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548</Words>
  <Application>Microsoft Office PowerPoint</Application>
  <PresentationFormat>Widescreen</PresentationFormat>
  <Paragraphs>113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Oleh Poiasnik</cp:lastModifiedBy>
  <cp:revision>4</cp:revision>
  <dcterms:created xsi:type="dcterms:W3CDTF">2013-01-27T09:14:16Z</dcterms:created>
  <dcterms:modified xsi:type="dcterms:W3CDTF">2026-05-27T10:23:15Z</dcterms:modified>
  <cp:category/>
</cp:coreProperties>
</file>